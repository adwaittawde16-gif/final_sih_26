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D9350-8BA4-47C3-9EA5-729B7F1130A9}" v="862" dt="2026-09-18T18:48:48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ho.int/publications/b/76072" TargetMode="External"/><Relationship Id="rId4" Type="http://schemas.openxmlformats.org/officeDocument/2006/relationships/hyperlink" Target="https://www.who.int/teams/health-product-policy-and-standards/medicines-selection-ip-and-affordability/medicines-policy/medicines-supply" TargetMode="External"/><Relationship Id="rId5" Type="http://schemas.openxmlformats.org/officeDocument/2006/relationships/hyperlink" Target="https://www.who.int/about/accountability/procurement/principles-and-processes" TargetMode="External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5029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457200"/>
            <a:ext cx="10363200" cy="2076450"/>
          </a:xfrm>
        </p:spPr>
        <p:txBody>
          <a:bodyPr wrap="square"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293080"/>
            <a:ext cx="6707305" cy="55412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/>
              <a:t>PSS04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Title- </a:t>
            </a:r>
            <a:r>
              <a:rPr lang="en-IN" sz="2400" dirty="0">
                <a:latin typeface="Calibri"/>
                <a:ea typeface="ＭＳ Ｐゴシック"/>
                <a:cs typeface="Calibri"/>
              </a:rPr>
              <a:t>AI-Powered Criminal Network Analysis System</a:t>
            </a:r>
            <a:endParaRPr lang="en-IN" sz="2400" dirty="0">
              <a:latin typeface="Calibri"/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Theme- </a:t>
            </a:r>
            <a:r>
              <a:rPr lang="en-US" sz="2400" dirty="0">
                <a:latin typeface="Calibri"/>
                <a:ea typeface="Calibri"/>
                <a:cs typeface="Calibri"/>
              </a:rPr>
              <a:t>Blockchain and Cybersecurity</a:t>
            </a:r>
            <a:endParaRPr lang="en-IN" sz="2400" dirty="0"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Ctrl Innovate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 wrap="squar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96485" y="576160"/>
            <a:ext cx="9099025" cy="1143000"/>
          </a:xfrm>
        </p:spPr>
        <p:txBody>
          <a:bodyPr wrap="square"/>
          <a:lstStyle/>
          <a:p>
            <a:pPr eaLnBrk="1" hangingPunct="1"/>
            <a:b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200" b="1" dirty="0">
                <a:ea typeface="ＭＳ Ｐゴシック"/>
              </a:rPr>
              <a:t> NETSENTINEL-Mumbai Police Intelligence Platform</a:t>
            </a:r>
            <a:br>
              <a:rPr lang="en-IN" sz="3200" b="1" dirty="0"/>
            </a:b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200" y="1718795"/>
            <a:ext cx="12191999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Proposed Solution:-</a:t>
            </a:r>
            <a:endParaRPr lang="en-US"/>
          </a:p>
          <a:p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Unified Intelligence Platform — Fuses FIRs, CDRs, CCTV co-location, and financial data into one Tactical Intelligence Command </a:t>
            </a:r>
            <a:r>
              <a:rPr lang="en-IN" sz="2200" dirty="0" err="1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Center</a:t>
            </a:r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 dashboard.</a:t>
            </a:r>
            <a:endParaRPr lang="en-US" sz="2200">
              <a:solidFill>
                <a:srgbClr val="000000"/>
              </a:solidFill>
              <a:latin typeface="Calibri"/>
              <a:ea typeface="ＭＳ Ｐゴシック"/>
              <a:cs typeface="Calibri"/>
            </a:endParaRPr>
          </a:p>
          <a:p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Graph-Powered Network Mapping — Builds a dynamic criminal network graph (Neo4j) to expose syndicates, key connectors, and hidden hierarchies via graph algorithms.</a:t>
            </a:r>
            <a:endParaRPr lang="en-IN" sz="2200">
              <a:solidFill>
                <a:srgbClr val="000000"/>
              </a:solidFill>
              <a:latin typeface="Calibri"/>
              <a:ea typeface="ＭＳ Ｐゴシック"/>
              <a:cs typeface="Calibri"/>
            </a:endParaRPr>
          </a:p>
          <a:p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AI-Driven Threat Detection — NLP entity extraction a computed Threat Index flag risks in real time.</a:t>
            </a:r>
          </a:p>
          <a:p>
            <a:endParaRPr lang="en-IN" sz="2200" dirty="0">
              <a:latin typeface="ＭＳ Ｐゴシック"/>
              <a:ea typeface="ＭＳ Ｐゴシック"/>
              <a:cs typeface="Calibri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Calibri"/>
                <a:ea typeface="Calibri"/>
                <a:cs typeface="Calibri"/>
              </a:rPr>
              <a:t>How It Addresses the Problem:-</a:t>
            </a:r>
            <a:endParaRPr lang="en-IN" sz="2200" dirty="0">
              <a:latin typeface="ＭＳ Ｐゴシック"/>
              <a:ea typeface="ＭＳ Ｐゴシック"/>
              <a:cs typeface="Calibri"/>
            </a:endParaRPr>
          </a:p>
          <a:p>
            <a:r>
              <a:rPr lang="en-IN" sz="2200" b="1" dirty="0">
                <a:latin typeface="Calibri"/>
                <a:ea typeface="ＭＳ Ｐゴシック"/>
                <a:cs typeface="Calibri"/>
              </a:rPr>
              <a:t>Data </a:t>
            </a:r>
            <a:r>
              <a:rPr lang="en-IN" sz="2200" b="1" dirty="0" err="1">
                <a:latin typeface="Calibri"/>
                <a:ea typeface="ＭＳ Ｐゴシック"/>
                <a:cs typeface="Calibri"/>
              </a:rPr>
              <a:t>Gathering→Analyses</a:t>
            </a:r>
            <a:r>
              <a:rPr lang="en-IN" sz="2200" b="1" dirty="0">
                <a:latin typeface="Calibri"/>
                <a:ea typeface="ＭＳ Ｐゴシック"/>
                <a:cs typeface="Calibri"/>
              </a:rPr>
              <a:t> Linkages → Compute Threat /Risk→ Displays Organized Data</a:t>
            </a:r>
          </a:p>
          <a:p>
            <a:endParaRPr lang="en-IN" sz="2200" b="1" dirty="0">
              <a:latin typeface="Calibri"/>
              <a:ea typeface="ＭＳ Ｐゴシック"/>
              <a:cs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dirty="0">
                <a:latin typeface="Calibri"/>
                <a:ea typeface="ＭＳ Ｐゴシック"/>
                <a:cs typeface="Calibri"/>
              </a:rPr>
              <a:t>Innovation:-</a:t>
            </a:r>
            <a:endParaRPr lang="en-IN" sz="2200" dirty="0">
              <a:solidFill>
                <a:srgbClr val="000000"/>
              </a:solidFill>
              <a:cs typeface="Calibri" pitchFamily="34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 Fuses fragmented crime data into a self-explaining, graph-driven threat intelligence engine with an AI reasoning system.</a:t>
            </a:r>
            <a:endParaRPr lang="en-IN" sz="2200" dirty="0">
              <a:solidFill>
                <a:srgbClr val="000000"/>
              </a:solidFill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4349" y="235800"/>
            <a:ext cx="14530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 wrap="squar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731520"/>
          </a:xfrm>
        </p:spPr>
        <p:txBody>
          <a:bodyPr wrap="square"/>
          <a:lstStyle/>
          <a:p>
            <a:pPr eaLnBrk="1" hangingPunct="1">
              <a:defRPr sz="2400" b="1">
                <a:solidFill>
                  <a:srgbClr val="1E3A8A"/>
                </a:solidFill>
              </a:defRPr>
            </a:pPr>
            <a:r>
              <a:t>TECHNICAL APPROACH &amp; AI MODEL PIPELINE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945139" y="1183603"/>
            <a:ext cx="4262542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numCol="1" anchor="t">
            <a:spAutoFit/>
          </a:bodyPr>
          <a:lstStyle/>
          <a:p>
            <a:r>
              <a:rPr lang="en-IN" b="1" dirty="0"/>
              <a:t>Working Methodology</a:t>
            </a:r>
          </a:p>
          <a:p>
            <a:endParaRPr lang="en-IN" b="1" dirty="0">
              <a:latin typeface="Calibri"/>
              <a:ea typeface="ＭＳ Ｐゴシック"/>
              <a:cs typeface="Calibri"/>
            </a:endParaRPr>
          </a:p>
          <a:p>
            <a:r>
              <a:rPr lang="en-IN" b="1" dirty="0">
                <a:latin typeface="Calibri"/>
                <a:ea typeface="ＭＳ Ｐゴシック"/>
                <a:cs typeface="Calibri"/>
              </a:rPr>
              <a:t>Data Ingestion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FIR / CDR / CCTV Import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Multi-Source Aggregation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NLP Entity Extraction</a:t>
            </a:r>
          </a:p>
          <a:p>
            <a:r>
              <a:rPr lang="en-IN" b="1" dirty="0">
                <a:latin typeface="Calibri"/>
                <a:ea typeface="ＭＳ Ｐゴシック"/>
                <a:cs typeface="Calibri"/>
              </a:rPr>
              <a:t>Graph Layer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Entity-Relationship Mapping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Network Construction (Neo4j)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Graph Algorithm Analysis</a:t>
            </a:r>
          </a:p>
          <a:p>
            <a:r>
              <a:rPr lang="en-IN" b="1" dirty="0">
                <a:latin typeface="Calibri"/>
                <a:ea typeface="ＭＳ Ｐゴシック"/>
                <a:cs typeface="Calibri"/>
              </a:rPr>
              <a:t>Intelligence Layer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Statistical Anomaly Detection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Threat Index Computation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Explainable AI (XAI) Flagging</a:t>
            </a:r>
          </a:p>
          <a:p>
            <a:r>
              <a:rPr lang="en-IN" b="1" dirty="0">
                <a:latin typeface="Calibri"/>
                <a:ea typeface="ＭＳ Ｐゴシック"/>
                <a:cs typeface="Calibri"/>
              </a:rPr>
              <a:t>Command &amp; Audit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RBAC Access Control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Forensic Audit Logging</a:t>
            </a:r>
            <a:br>
              <a:rPr lang="en-IN" dirty="0"/>
            </a:br>
            <a:r>
              <a:rPr lang="en-IN" dirty="0">
                <a:latin typeface="Calibri"/>
                <a:ea typeface="ＭＳ Ｐゴシック"/>
                <a:cs typeface="Calibri"/>
              </a:rPr>
              <a:t>→ Scalability Benchmarking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452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324EAD-B729-CE3F-A437-9C7C741DD72C}"/>
              </a:ext>
            </a:extLst>
          </p:cNvPr>
          <p:cNvSpPr/>
          <p:nvPr/>
        </p:nvSpPr>
        <p:spPr>
          <a:xfrm>
            <a:off x="1595882" y="4106173"/>
            <a:ext cx="4497237" cy="197038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 wrap="square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Core Workflow</a:t>
            </a:r>
            <a:endParaRPr lang="en-IN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br>
              <a:rPr lang="en-US" dirty="0"/>
            </a:br>
            <a:r>
              <a:rPr lang="en-IN" dirty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</a:rPr>
              <a:t>Data Ingestion → NLP Extraction → Graph Construction → Anomaly/Threat Detection → XAI Explanation → Command </a:t>
            </a:r>
            <a:r>
              <a:rPr lang="en-IN" dirty="0" err="1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</a:rPr>
              <a:t>Center</a:t>
            </a:r>
            <a:r>
              <a:rPr lang="en-IN" dirty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</a:rPr>
              <a:t> Dashboard → Field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02375-9A6E-EE98-26F5-EB3BA3BA1848}"/>
              </a:ext>
            </a:extLst>
          </p:cNvPr>
          <p:cNvSpPr txBox="1"/>
          <p:nvPr/>
        </p:nvSpPr>
        <p:spPr>
          <a:xfrm>
            <a:off x="3766172" y="1095375"/>
            <a:ext cx="3318260" cy="3416320"/>
          </a:xfrm>
          <a:prstGeom prst="rect">
            <a:avLst/>
          </a:prstGeom>
          <a:noFill/>
        </p:spPr>
        <p:txBody>
          <a:bodyPr wrap="square" lIns="91440" tIns="45720" rIns="91440" bIns="45720" numCol="2" rtlCol="0" anchor="t">
            <a:spAutoFit/>
          </a:bodyPr>
          <a:lstStyle/>
          <a:p>
            <a:r>
              <a:rPr lang="en-IN" dirty="0"/>
              <a:t>Technology Stack:-</a:t>
            </a:r>
          </a:p>
          <a:p>
            <a:r>
              <a:rPr lang="en-IN" b="1" dirty="0"/>
              <a:t>Frontend</a:t>
            </a:r>
            <a:endParaRPr lang="en-IN" dirty="0"/>
          </a:p>
          <a:p>
            <a:pPr lvl="0"/>
            <a:r>
              <a:rPr lang="en-IN" dirty="0"/>
              <a:t>React + TypeScript</a:t>
            </a:r>
          </a:p>
          <a:p>
            <a:pPr lvl="0"/>
            <a:r>
              <a:rPr lang="en-IN" dirty="0"/>
              <a:t>Tailwind CSS</a:t>
            </a:r>
          </a:p>
          <a:p>
            <a:pPr lvl="0"/>
            <a:r>
              <a:rPr lang="en-IN" dirty="0"/>
              <a:t>Recharts</a:t>
            </a:r>
          </a:p>
          <a:p>
            <a:pPr lvl="0"/>
            <a:r>
              <a:rPr lang="en-IN" dirty="0">
                <a:latin typeface="Calibri"/>
                <a:ea typeface="ＭＳ Ｐゴシック"/>
                <a:cs typeface="Calibri"/>
              </a:rPr>
              <a:t>Lucide React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r>
              <a:rPr lang="en-IN" b="1" dirty="0"/>
              <a:t>Backend</a:t>
            </a:r>
            <a:endParaRPr lang="en-IN" dirty="0"/>
          </a:p>
          <a:p>
            <a:pPr lvl="0"/>
            <a:r>
              <a:rPr lang="en-IN" dirty="0"/>
              <a:t>Node.js</a:t>
            </a:r>
          </a:p>
          <a:p>
            <a:pPr lvl="0"/>
            <a:r>
              <a:rPr lang="en-IN" dirty="0"/>
              <a:t>Express.js</a:t>
            </a:r>
          </a:p>
          <a:p>
            <a:pPr lvl="0"/>
            <a:r>
              <a:rPr lang="en-IN" dirty="0"/>
              <a:t>REST APIs</a:t>
            </a:r>
          </a:p>
          <a:p>
            <a:r>
              <a:rPr lang="en-IN" b="1" dirty="0"/>
              <a:t>Database</a:t>
            </a:r>
            <a:endParaRPr lang="en-IN" dirty="0"/>
          </a:p>
          <a:p>
            <a:pPr lvl="0"/>
            <a:r>
              <a:rPr lang="en-IN" dirty="0"/>
              <a:t>MySQL</a:t>
            </a:r>
          </a:p>
          <a:p>
            <a:endParaRPr lang="en-IN" b="1" dirty="0"/>
          </a:p>
          <a:p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A18B88-AE0E-DE68-3E52-639EEF741414}"/>
              </a:ext>
            </a:extLst>
          </p:cNvPr>
          <p:cNvCxnSpPr>
            <a:cxnSpLocks/>
          </p:cNvCxnSpPr>
          <p:nvPr/>
        </p:nvCxnSpPr>
        <p:spPr>
          <a:xfrm>
            <a:off x="7220309" y="885465"/>
            <a:ext cx="0" cy="51910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1" name="TextBox 17410"/>
          <p:cNvSpPr txBox="1"/>
          <p:nvPr/>
        </p:nvSpPr>
        <p:spPr>
          <a:xfrm>
            <a:off x="457200" y="118872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Comprehensive Technology Stack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• Frontend Layer: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Next.js 14, React, TypeScript, Tailwind CSS, Lucide React, Recharts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• Backend &amp; Data Ingestion: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Python (FastAPI / Flask), Regex CDR Parser, OpenCV (Facial Recognition), SpaCy NLP (FIR Parser)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• AI &amp; Graph Mining Engine: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NetworkX (Degree &amp; Betweenness Centrality), Louvain Community Detection, Spatiotemporal Co-Location Engine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• Threat Classifier &amp; XAI: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100-Point Dynamic Threat Indexing System, Feature Attribution Weighting, Counterfactual Engine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• Database &amp; Cryptography: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SQLite / PostgreSQL, Cryptographic SHA-256 Forensic Audit Trail Ledger</a:t>
            </a:r>
          </a:p>
        </p:txBody>
      </p:sp>
      <p:pic>
        <p:nvPicPr>
          <p:cNvPr id="17412" name="Picture 17411" descr="model_flowchart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88720"/>
            <a:ext cx="694944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2785" y="0"/>
            <a:ext cx="10972800" cy="1143000"/>
          </a:xfrm>
        </p:spPr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457200"/>
            <a:ext cx="1545035" cy="84868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 wrap="square"/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Ctrl Innovate</a:t>
            </a:r>
            <a:endParaRPr lang="en-IN" b="1">
              <a:ea typeface="Calibri"/>
              <a:cs typeface="Calibri"/>
            </a:endParaRPr>
          </a:p>
          <a:p>
            <a:pPr algn="ctr"/>
            <a:endParaRPr lang="en-IN" b="1" dirty="0">
              <a:ea typeface="Calibri"/>
              <a:cs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23C5E6-654A-E5A0-5C51-EF3493878CBE}"/>
              </a:ext>
            </a:extLst>
          </p:cNvPr>
          <p:cNvSpPr txBox="1"/>
          <p:nvPr/>
        </p:nvSpPr>
        <p:spPr>
          <a:xfrm>
            <a:off x="327110" y="954889"/>
            <a:ext cx="3115575" cy="5324535"/>
          </a:xfrm>
          <a:prstGeom prst="rect">
            <a:avLst/>
          </a:prstGeom>
          <a:noFill/>
        </p:spPr>
        <p:txBody>
          <a:bodyPr wrap="square" lIns="91440" tIns="45720" rIns="91440" bIns="45720" numCol="1" anchor="t">
            <a:spAutoFit/>
          </a:bodyPr>
          <a:lstStyle/>
          <a:p>
            <a:r>
              <a:rPr lang="en-IN" sz="2000" dirty="0">
                <a:latin typeface="Calibri"/>
                <a:ea typeface="ＭＳ Ｐゴシック"/>
                <a:cs typeface="Calibri"/>
              </a:rPr>
              <a:t>➢ </a:t>
            </a:r>
            <a:r>
              <a:rPr lang="en-IN" sz="2000" b="1" dirty="0">
                <a:latin typeface="Calibri"/>
                <a:ea typeface="ＭＳ Ｐゴシック"/>
                <a:cs typeface="Calibri"/>
              </a:rPr>
              <a:t>Built using mature, proven technologies</a:t>
            </a:r>
            <a:endParaRPr lang="en-US" sz="2000" b="1" dirty="0">
              <a:latin typeface="Calibri"/>
              <a:ea typeface="ＭＳ Ｐゴシック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Neo4j &amp; PostgreSQL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Role-Based Access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Graph &amp; NLP Pipelines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Analytics &amp; Anomaly Detection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Alerts &amp; Reporting</a:t>
            </a:r>
          </a:p>
          <a:p>
            <a:r>
              <a:rPr lang="en-IN" sz="2000" dirty="0">
                <a:latin typeface="Calibri"/>
                <a:ea typeface="ＭＳ Ｐゴシック"/>
                <a:cs typeface="Calibri"/>
              </a:rPr>
              <a:t>➢ </a:t>
            </a:r>
            <a:r>
              <a:rPr lang="en-IN" sz="2000" b="1" dirty="0">
                <a:latin typeface="Calibri"/>
                <a:ea typeface="ＭＳ Ｐゴシック"/>
                <a:cs typeface="Calibri"/>
              </a:rPr>
              <a:t>Aligned with established law-enforcement intelligence practices: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Data Ingestion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Entity Extraction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Network Mapping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Threat Scoring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Audit Logging</a:t>
            </a:r>
          </a:p>
          <a:p>
            <a:endParaRPr lang="en-IN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C16BBD-941C-B29B-42F7-43A83C02C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234017"/>
              </p:ext>
            </p:extLst>
          </p:nvPr>
        </p:nvGraphicFramePr>
        <p:xfrm>
          <a:off x="3590359" y="2724341"/>
          <a:ext cx="854751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077">
                  <a:extLst>
                    <a:ext uri="{9D8B030D-6E8A-4147-A177-3AD203B41FA5}">
                      <a16:colId xmlns:a16="http://schemas.microsoft.com/office/drawing/2014/main" val="2218129607"/>
                    </a:ext>
                  </a:extLst>
                </a:gridCol>
                <a:gridCol w="5477440">
                  <a:extLst>
                    <a:ext uri="{9D8B030D-6E8A-4147-A177-3AD203B41FA5}">
                      <a16:colId xmlns:a16="http://schemas.microsoft.com/office/drawing/2014/main" val="1171160600"/>
                    </a:ext>
                  </a:extLst>
                </a:gridCol>
              </a:tblGrid>
              <a:tr h="313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486226"/>
                  </a:ext>
                </a:extLst>
              </a:tr>
              <a:tr h="35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 Accuracy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Validation + Cross-Source Corroboration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213046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Real-Time Processing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Timestamped Updates + Alerts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696142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False Positives**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Explainable AI (XAI) + Human Review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043109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Cybersecurity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Authentication + Role-Based Access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026578"/>
                  </a:ext>
                </a:extLst>
              </a:tr>
              <a:tr h="35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User Adoption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Simple, Investigator-Friendly Dashboards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731918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System Integration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API-Based, Modular Architecture</a:t>
                      </a:r>
                      <a:endParaRPr lang="en-US" sz="2000" b="1" kern="1200" noProof="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950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65C40C5-F574-526E-2986-BFADCAD2C852}"/>
              </a:ext>
            </a:extLst>
          </p:cNvPr>
          <p:cNvSpPr txBox="1"/>
          <p:nvPr/>
        </p:nvSpPr>
        <p:spPr>
          <a:xfrm>
            <a:off x="4063999" y="1166004"/>
            <a:ext cx="7273505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IN" sz="2000" dirty="0"/>
              <a:t>Expected Outcome:-</a:t>
            </a:r>
          </a:p>
          <a:p>
            <a:r>
              <a:rPr lang="en-IN" sz="2000" b="1" dirty="0">
                <a:latin typeface="Calibri"/>
                <a:ea typeface="ＭＳ Ｐゴシック"/>
                <a:cs typeface="Calibri"/>
              </a:rPr>
              <a:t>Early Threat Detection → Exposed Hidden Networks → Faster, Evidence-Backed Action</a:t>
            </a:r>
          </a:p>
          <a:p>
            <a:r>
              <a:rPr lang="en-IN" sz="2000" b="1" dirty="0">
                <a:latin typeface="Calibri"/>
                <a:ea typeface="ＭＳ Ｐゴシック"/>
                <a:cs typeface="Calibri"/>
              </a:rPr>
              <a:t>Right Entity → Right Connection → Right Pattern → Right Time → Right Response</a:t>
            </a:r>
          </a:p>
          <a:p>
            <a:endParaRPr lang="en-IN" sz="2000" b="1" dirty="0">
              <a:latin typeface="Calibri"/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457200"/>
          </a:xfrm>
        </p:spPr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795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0776EFA-3C09-84C9-90C5-856DF05938A0}"/>
              </a:ext>
            </a:extLst>
          </p:cNvPr>
          <p:cNvSpPr/>
          <p:nvPr/>
        </p:nvSpPr>
        <p:spPr>
          <a:xfrm>
            <a:off x="4406709" y="1345350"/>
            <a:ext cx="3044386" cy="19860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4B388-1E5F-D324-7C35-628E960054C0}"/>
              </a:ext>
            </a:extLst>
          </p:cNvPr>
          <p:cNvSpPr txBox="1"/>
          <p:nvPr/>
        </p:nvSpPr>
        <p:spPr>
          <a:xfrm>
            <a:off x="4735090" y="1909155"/>
            <a:ext cx="253975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Faster identification of key suspects &amp; links</a:t>
            </a:r>
            <a:endParaRPr lang="en-IN" sz="1600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Reduced manual case-linking effort</a:t>
            </a:r>
            <a:endParaRPr lang="en-IN" dirty="0">
              <a:latin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cs typeface="Calibri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328190-D9AE-019B-E5D7-605965DF1013}"/>
              </a:ext>
            </a:extLst>
          </p:cNvPr>
          <p:cNvSpPr/>
          <p:nvPr/>
        </p:nvSpPr>
        <p:spPr>
          <a:xfrm>
            <a:off x="722961" y="2306742"/>
            <a:ext cx="3044386" cy="187088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BBA25E-204F-02F6-A333-C5DF2298CE2A}"/>
              </a:ext>
            </a:extLst>
          </p:cNvPr>
          <p:cNvSpPr/>
          <p:nvPr/>
        </p:nvSpPr>
        <p:spPr>
          <a:xfrm>
            <a:off x="6211083" y="4237558"/>
            <a:ext cx="2951192" cy="18818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AA77FCB-5BC7-6C34-1A9E-69F9CA070549}"/>
              </a:ext>
            </a:extLst>
          </p:cNvPr>
          <p:cNvSpPr/>
          <p:nvPr/>
        </p:nvSpPr>
        <p:spPr>
          <a:xfrm>
            <a:off x="2642080" y="4349392"/>
            <a:ext cx="2951192" cy="18818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E16D182-2371-01BA-93D4-3AF27DF295BD}"/>
              </a:ext>
            </a:extLst>
          </p:cNvPr>
          <p:cNvSpPr/>
          <p:nvPr/>
        </p:nvSpPr>
        <p:spPr>
          <a:xfrm>
            <a:off x="8341265" y="2267691"/>
            <a:ext cx="2951192" cy="18818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CDA5F6-9470-AA12-A984-292C081958C3}"/>
              </a:ext>
            </a:extLst>
          </p:cNvPr>
          <p:cNvSpPr txBox="1"/>
          <p:nvPr/>
        </p:nvSpPr>
        <p:spPr>
          <a:xfrm>
            <a:off x="2957816" y="4472708"/>
            <a:ext cx="313590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        </a:t>
            </a:r>
            <a:r>
              <a:rPr lang="en-US" b="1" dirty="0">
                <a:latin typeface="Calibri"/>
                <a:ea typeface="Calibri"/>
                <a:cs typeface="Calibri"/>
              </a:rPr>
              <a:t>Judiciary </a:t>
            </a:r>
          </a:p>
          <a:p>
            <a:endParaRPr lang="en-IN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B997E3-DB60-7DE2-BBFA-EC9669192FB0}"/>
              </a:ext>
            </a:extLst>
          </p:cNvPr>
          <p:cNvSpPr txBox="1"/>
          <p:nvPr/>
        </p:nvSpPr>
        <p:spPr>
          <a:xfrm>
            <a:off x="8667753" y="2837852"/>
            <a:ext cx="253975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Data-driven resource allocation</a:t>
            </a:r>
            <a:endParaRPr lang="en-US" sz="1600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Centralized oversight across units &amp; jurisdictions</a:t>
            </a:r>
            <a:endParaRPr lang="en-US" dirty="0"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B8DFD7-86E0-45DD-3F3F-2376C06E5EAB}"/>
              </a:ext>
            </a:extLst>
          </p:cNvPr>
          <p:cNvSpPr txBox="1"/>
          <p:nvPr/>
        </p:nvSpPr>
        <p:spPr>
          <a:xfrm>
            <a:off x="9162275" y="2331998"/>
            <a:ext cx="183490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Government / Policy Makers</a:t>
            </a:r>
            <a:endParaRPr lang="en-US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1D5B05-1B85-DD7E-C8B4-D1D9CDA4E61C}"/>
              </a:ext>
            </a:extLst>
          </p:cNvPr>
          <p:cNvSpPr txBox="1"/>
          <p:nvPr/>
        </p:nvSpPr>
        <p:spPr>
          <a:xfrm>
            <a:off x="926726" y="2835778"/>
            <a:ext cx="2732423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Real-time visibility into active syndicates</a:t>
            </a:r>
            <a:endParaRPr lang="en-IN" sz="1600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Prioritized threat alerts, less noise</a:t>
            </a:r>
            <a:endParaRPr lang="en-IN" dirty="0"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D77AF1-E3B3-575B-A354-7439A0690B70}"/>
              </a:ext>
            </a:extLst>
          </p:cNvPr>
          <p:cNvSpPr txBox="1"/>
          <p:nvPr/>
        </p:nvSpPr>
        <p:spPr>
          <a:xfrm>
            <a:off x="7033288" y="4383280"/>
            <a:ext cx="183490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Public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8F8BE7-E87A-1E72-B473-1D66104B78C8}"/>
              </a:ext>
            </a:extLst>
          </p:cNvPr>
          <p:cNvSpPr txBox="1"/>
          <p:nvPr/>
        </p:nvSpPr>
        <p:spPr>
          <a:xfrm>
            <a:off x="1342517" y="2340918"/>
            <a:ext cx="183490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Command </a:t>
            </a:r>
            <a:r>
              <a:rPr lang="en-IN" b="1" dirty="0" err="1">
                <a:latin typeface="Calibri"/>
                <a:ea typeface="Calibri"/>
                <a:cs typeface="Calibri"/>
              </a:rPr>
              <a:t>Center</a:t>
            </a:r>
            <a:r>
              <a:rPr lang="en-IN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37FE7E-7D1C-DE0C-CC81-7E8D9604C575}"/>
              </a:ext>
            </a:extLst>
          </p:cNvPr>
          <p:cNvSpPr txBox="1"/>
          <p:nvPr/>
        </p:nvSpPr>
        <p:spPr>
          <a:xfrm>
            <a:off x="5332745" y="1405446"/>
            <a:ext cx="183490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Investigators</a:t>
            </a:r>
            <a:endParaRPr lang="en-US" b="1">
              <a:latin typeface="Calibri"/>
              <a:cs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436997-D133-BAF7-08D4-9E3C894E48B6}"/>
              </a:ext>
            </a:extLst>
          </p:cNvPr>
          <p:cNvSpPr txBox="1"/>
          <p:nvPr/>
        </p:nvSpPr>
        <p:spPr>
          <a:xfrm>
            <a:off x="2847798" y="4793957"/>
            <a:ext cx="253975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Explainable AI evidence trail (XAI)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Stronger, defensible case documentation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cs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3D45B2-ECF8-FD84-8C9A-54E4A9EC8B1A}"/>
              </a:ext>
            </a:extLst>
          </p:cNvPr>
          <p:cNvSpPr txBox="1"/>
          <p:nvPr/>
        </p:nvSpPr>
        <p:spPr>
          <a:xfrm>
            <a:off x="6632666" y="4755296"/>
            <a:ext cx="2711536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Faster crime resolution &amp; safer neighborhoods</a:t>
            </a:r>
            <a:endParaRPr lang="en-US" sz="1600" dirty="0">
              <a:latin typeface="Calibri"/>
              <a:ea typeface="ＭＳ Ｐゴシック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Increased trust via transparent, auditable action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457200"/>
          </a:xfrm>
        </p:spPr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46053" y="2093648"/>
            <a:ext cx="93853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 sz="1600" b="1">
                <a:solidFill>
                  <a:srgbClr val="1E3A8A"/>
                </a:solidFill>
              </a:defRPr>
            </a:pPr>
            <a:r>
              <a:t>LAW ENFORCEMENT &amp; TECHNICAL REFERENCES</a:t>
            </a:r>
          </a:p>
          <a:p>
            <a:pPr>
              <a:spcBef>
                <a:spcPts val="1000"/>
              </a:spcBef>
              <a:defRPr sz="1300" b="1">
                <a:solidFill>
                  <a:srgbClr val="3B82F6"/>
                </a:solidFill>
              </a:defRPr>
            </a:pPr>
            <a:r>
              <a:t>1. NCRB Digital Evidence &amp; CDR Analysis Guidelines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National Crime Records Bureau Standard Operating Procedures for Telecom Log Mining &amp; Evidence Lineage.</a:t>
            </a:r>
          </a:p>
          <a:p>
            <a:pPr>
              <a:spcBef>
                <a:spcPts val="1000"/>
              </a:spcBef>
              <a:defRPr sz="1300" b="1">
                <a:solidFill>
                  <a:srgbClr val="3B82F6"/>
                </a:solidFill>
              </a:defRPr>
            </a:pPr>
            <a:r>
              <a:t>2. Statutory Frameworks for Criminal Syndicate Prosecution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Maharashtra Control of Organised Crime Act (MCOCA) &amp; IPC Sec 120B Conspiracy Evidence Requirements.</a:t>
            </a:r>
          </a:p>
          <a:p>
            <a:pPr>
              <a:spcBef>
                <a:spcPts val="1000"/>
              </a:spcBef>
              <a:defRPr sz="1300" b="1">
                <a:solidFill>
                  <a:srgbClr val="3B82F6"/>
                </a:solidFill>
              </a:defRPr>
            </a:pPr>
            <a:r>
              <a:t>3. NetworkX &amp; Graph Centrality in Intelligence Mining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IEEE/ACM Research on Degree &amp; Betweenness Centrality Algorithms for Key-Link Identification in Syndicate Graphs.</a:t>
            </a:r>
          </a:p>
          <a:p>
            <a:pPr>
              <a:spcBef>
                <a:spcPts val="1000"/>
              </a:spcBef>
              <a:defRPr sz="1300" b="1">
                <a:solidFill>
                  <a:srgbClr val="3B82F6"/>
                </a:solidFill>
              </a:defRPr>
            </a:pPr>
            <a:r>
              <a:t>4. Explainable AI (XAI) Standards for Judicial Admissibility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NIST &amp; Inter-Agency Guidelines for Transparent Algorithmic Scoring and Feature Attribution in Law Enforcement Systems.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162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7647</TotalTime>
  <Words>664</Words>
  <Application>Microsoft Office PowerPoint</Application>
  <PresentationFormat>Widescreen</PresentationFormat>
  <Paragraphs>164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 NETSENTINEL-Mumbai Police Intelligence Platform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Bhavya Parekh</cp:lastModifiedBy>
  <cp:revision>336</cp:revision>
  <dcterms:created xsi:type="dcterms:W3CDTF">2013-12-12T18:46:50Z</dcterms:created>
  <dcterms:modified xsi:type="dcterms:W3CDTF">2026-09-21T20:32:04Z</dcterms:modified>
  <cp:category/>
</cp:coreProperties>
</file>
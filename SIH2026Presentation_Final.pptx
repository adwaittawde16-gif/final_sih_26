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D9350-8BA4-47C3-9EA5-729B7F1130A9}" v="862" dt="2026-09-18T18:48:4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ho.int/publications/b/76072" TargetMode="External"/><Relationship Id="rId4" Type="http://schemas.openxmlformats.org/officeDocument/2006/relationships/hyperlink" Target="https://www.who.int/teams/health-product-policy-and-standards/medicines-selection-ip-and-affordability/medicines-policy/medicines-supply" TargetMode="External"/><Relationship Id="rId5" Type="http://schemas.openxmlformats.org/officeDocument/2006/relationships/hyperlink" Target="https://www.who.int/about/accountability/procurement/principles-and-processes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293080"/>
            <a:ext cx="6707305" cy="5541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PSS04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IN" sz="2400" dirty="0">
                <a:latin typeface="Calibri"/>
                <a:ea typeface="ＭＳ Ｐゴシック"/>
                <a:cs typeface="Calibri"/>
              </a:rPr>
              <a:t>AI-Powered Criminal Network Analysis System</a:t>
            </a:r>
            <a:endParaRPr lang="en-IN" sz="2400" dirty="0">
              <a:latin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US" sz="2400" dirty="0">
                <a:latin typeface="Calibri"/>
                <a:ea typeface="Calibri"/>
                <a:cs typeface="Calibri"/>
              </a:rPr>
              <a:t>Blockchain and Cybersecurity</a:t>
            </a:r>
            <a:endParaRPr lang="en-IN" sz="2400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Ctrl Innovate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96485" y="576160"/>
            <a:ext cx="9099025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b="1" dirty="0">
                <a:ea typeface="ＭＳ Ｐゴシック"/>
              </a:rPr>
              <a:t> NETSENTINEL-Mumbai Police Intelligence Platform</a:t>
            </a:r>
            <a:br>
              <a:rPr lang="en-IN" sz="3200" b="1" dirty="0"/>
            </a:b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0" y="1718795"/>
            <a:ext cx="12191999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Proposed Solution:-</a:t>
            </a:r>
            <a:endParaRPr lang="en-US"/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Unified Intelligence Platform — Fuses FIRs, CDRs, CCTV co-location, and financial data into one Tactical Intelligence Command </a:t>
            </a:r>
            <a:r>
              <a:rPr lang="en-IN" sz="2200" dirty="0" err="1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Center</a:t>
            </a:r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dashboard.</a:t>
            </a:r>
            <a:endParaRPr lang="en-US" sz="2200">
              <a:solidFill>
                <a:srgbClr val="000000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Graph-Powered Network Mapping — Builds a dynamic criminal network graph (Neo4j) to expose syndicates, key connectors, and hidden hierarchies via graph algorithms.</a:t>
            </a:r>
            <a:endParaRPr lang="en-IN" sz="2200">
              <a:solidFill>
                <a:srgbClr val="000000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AI-Driven Threat Detection — NLP entity extraction a computed Threat Index flag risks in real time.</a:t>
            </a:r>
          </a:p>
          <a:p>
            <a:endParaRPr lang="en-IN" sz="2200" dirty="0">
              <a:latin typeface="ＭＳ Ｐゴシック"/>
              <a:ea typeface="ＭＳ Ｐゴシック"/>
              <a:cs typeface="Calibri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Calibri"/>
                <a:ea typeface="Calibri"/>
                <a:cs typeface="Calibri"/>
              </a:rPr>
              <a:t>How It Addresses the Problem:-</a:t>
            </a:r>
            <a:endParaRPr lang="en-IN" sz="2200" dirty="0">
              <a:latin typeface="ＭＳ Ｐゴシック"/>
              <a:ea typeface="ＭＳ Ｐゴシック"/>
              <a:cs typeface="Calibri"/>
            </a:endParaRPr>
          </a:p>
          <a:p>
            <a:r>
              <a:rPr lang="en-IN" sz="2200" b="1" dirty="0">
                <a:latin typeface="Calibri"/>
                <a:ea typeface="ＭＳ Ｐゴシック"/>
                <a:cs typeface="Calibri"/>
              </a:rPr>
              <a:t>Data </a:t>
            </a:r>
            <a:r>
              <a:rPr lang="en-IN" sz="2200" b="1" dirty="0" err="1">
                <a:latin typeface="Calibri"/>
                <a:ea typeface="ＭＳ Ｐゴシック"/>
                <a:cs typeface="Calibri"/>
              </a:rPr>
              <a:t>Gathering→Analyses</a:t>
            </a:r>
            <a:r>
              <a:rPr lang="en-IN" sz="2200" b="1" dirty="0">
                <a:latin typeface="Calibri"/>
                <a:ea typeface="ＭＳ Ｐゴシック"/>
                <a:cs typeface="Calibri"/>
              </a:rPr>
              <a:t> Linkages → Compute Threat /Risk→ Displays Organized Data</a:t>
            </a:r>
          </a:p>
          <a:p>
            <a:endParaRPr lang="en-IN" sz="2200" b="1" dirty="0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dirty="0">
                <a:latin typeface="Calibri"/>
                <a:ea typeface="ＭＳ Ｐゴシック"/>
                <a:cs typeface="Calibri"/>
              </a:rPr>
              <a:t>Innovation:-</a:t>
            </a:r>
            <a:endParaRPr lang="en-IN" sz="2200" dirty="0">
              <a:solidFill>
                <a:srgbClr val="000000"/>
              </a:solidFill>
              <a:cs typeface="Calibri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 Fuses fragmented crime data into a self-explaining, graph-driven threat intelligence engine with an AI reasoning system.</a:t>
            </a:r>
            <a:endParaRPr lang="en-IN" sz="2200" dirty="0">
              <a:solidFill>
                <a:srgbClr val="000000"/>
              </a:solidFill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349" y="235800"/>
            <a:ext cx="14530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731520"/>
          </a:xfrm>
        </p:spPr>
        <p:txBody>
          <a:bodyPr/>
          <a:lstStyle/>
          <a:p>
            <a:pPr eaLnBrk="1" hangingPunct="1">
              <a:defRPr sz="2200" b="1">
                <a:solidFill>
                  <a:srgbClr val="1E3A8A"/>
                </a:solidFill>
              </a:defRPr>
            </a:pPr>
            <a:r>
              <a:t>TECHNICAL APPROACH &amp; AI MODEL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452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88D7886-00D4-942D-0247-A9FA6D603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4320"/>
            <a:ext cx="11274552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TECHNICAL APPROACH &amp; AI MODEL PIPELINE</a:t>
            </a:r>
          </a:p>
        </p:txBody>
      </p:sp>
      <p:pic>
        <p:nvPicPr>
          <p:cNvPr id="17410" name="Picture 17409" descr="graph_model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97280"/>
            <a:ext cx="1127455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2785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6599"/>
            <a:ext cx="1545035" cy="8486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Ctrl Innovate</a:t>
            </a:r>
            <a:endParaRPr lang="en-IN" b="1">
              <a:ea typeface="Calibri"/>
              <a:cs typeface="Calibri"/>
            </a:endParaRPr>
          </a:p>
          <a:p>
            <a:pPr algn="ctr"/>
            <a:endParaRPr lang="en-IN" b="1" dirty="0">
              <a:ea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23C5E6-654A-E5A0-5C51-EF3493878CBE}"/>
              </a:ext>
            </a:extLst>
          </p:cNvPr>
          <p:cNvSpPr txBox="1"/>
          <p:nvPr/>
        </p:nvSpPr>
        <p:spPr>
          <a:xfrm>
            <a:off x="327110" y="954889"/>
            <a:ext cx="3115575" cy="5324535"/>
          </a:xfrm>
          <a:prstGeom prst="rect">
            <a:avLst/>
          </a:prstGeom>
          <a:noFill/>
        </p:spPr>
        <p:txBody>
          <a:bodyPr wrap="square" lIns="91440" tIns="45720" rIns="91440" bIns="45720" numCol="1" anchor="t">
            <a:spAutoFit/>
          </a:bodyPr>
          <a:lstStyle/>
          <a:p>
            <a:r>
              <a:rPr lang="en-IN" sz="2000" dirty="0">
                <a:latin typeface="Calibri"/>
                <a:ea typeface="ＭＳ Ｐゴシック"/>
                <a:cs typeface="Calibri"/>
              </a:rPr>
              <a:t>➢ </a:t>
            </a:r>
            <a:r>
              <a:rPr lang="en-IN" sz="2000" b="1" dirty="0">
                <a:latin typeface="Calibri"/>
                <a:ea typeface="ＭＳ Ｐゴシック"/>
                <a:cs typeface="Calibri"/>
              </a:rPr>
              <a:t>Built using mature, proven technologies</a:t>
            </a:r>
            <a:endParaRPr lang="en-US" sz="2000" b="1" dirty="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Neo4j &amp; PostgreSQL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Role-Based Access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Graph &amp; NLP Pipelines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Analytics &amp; Anomaly Detection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Alerts &amp; Reporting</a:t>
            </a:r>
          </a:p>
          <a:p>
            <a:r>
              <a:rPr lang="en-IN" sz="2000" dirty="0">
                <a:latin typeface="Calibri"/>
                <a:ea typeface="ＭＳ Ｐゴシック"/>
                <a:cs typeface="Calibri"/>
              </a:rPr>
              <a:t>➢ </a:t>
            </a:r>
            <a:r>
              <a:rPr lang="en-IN" sz="2000" b="1" dirty="0">
                <a:latin typeface="Calibri"/>
                <a:ea typeface="ＭＳ Ｐゴシック"/>
                <a:cs typeface="Calibri"/>
              </a:rPr>
              <a:t>Aligned with established law-enforcement intelligence practices: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Data Ingestion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Entity Extraction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Network Mapping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Threat Scoring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Audit Logging</a:t>
            </a:r>
          </a:p>
          <a:p>
            <a:endParaRPr lang="en-I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C16BBD-941C-B29B-42F7-43A83C02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34017"/>
              </p:ext>
            </p:extLst>
          </p:nvPr>
        </p:nvGraphicFramePr>
        <p:xfrm>
          <a:off x="3590359" y="2724341"/>
          <a:ext cx="854751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077">
                  <a:extLst>
                    <a:ext uri="{9D8B030D-6E8A-4147-A177-3AD203B41FA5}">
                      <a16:colId xmlns:a16="http://schemas.microsoft.com/office/drawing/2014/main" val="2218129607"/>
                    </a:ext>
                  </a:extLst>
                </a:gridCol>
                <a:gridCol w="5477440">
                  <a:extLst>
                    <a:ext uri="{9D8B030D-6E8A-4147-A177-3AD203B41FA5}">
                      <a16:colId xmlns:a16="http://schemas.microsoft.com/office/drawing/2014/main" val="1171160600"/>
                    </a:ext>
                  </a:extLst>
                </a:gridCol>
              </a:tblGrid>
              <a:tr h="313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486226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Accuracy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Validation + Cross-Source Corroboration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213046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Real-Time 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Timestamped Updates + Alerts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696142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False Positives**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Explainable AI (XAI) + Human Review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043109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Cybersecurity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Authentication + Role-Based Access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026578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User Adoption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Simple, Investigator-Friendly Dashboards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731918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System Integration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API-Based, Modular Architecture</a:t>
                      </a:r>
                      <a:endParaRPr lang="en-US" sz="2000" b="1" kern="1200" noProof="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950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5C40C5-F574-526E-2986-BFADCAD2C852}"/>
              </a:ext>
            </a:extLst>
          </p:cNvPr>
          <p:cNvSpPr txBox="1"/>
          <p:nvPr/>
        </p:nvSpPr>
        <p:spPr>
          <a:xfrm>
            <a:off x="4063999" y="1166004"/>
            <a:ext cx="7273505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2000" dirty="0"/>
              <a:t>Expected Outcome:-</a:t>
            </a:r>
          </a:p>
          <a:p>
            <a:r>
              <a:rPr lang="en-IN" sz="2000" b="1" dirty="0">
                <a:latin typeface="Calibri"/>
                <a:ea typeface="ＭＳ Ｐゴシック"/>
                <a:cs typeface="Calibri"/>
              </a:rPr>
              <a:t>Early Threat Detection → Exposed Hidden Networks → Faster, Evidence-Backed Action</a:t>
            </a:r>
          </a:p>
          <a:p>
            <a:r>
              <a:rPr lang="en-IN" sz="2000" b="1" dirty="0">
                <a:latin typeface="Calibri"/>
                <a:ea typeface="ＭＳ Ｐゴシック"/>
                <a:cs typeface="Calibri"/>
              </a:rPr>
              <a:t>Right Entity → Right Connection → Right Pattern → Right Time → Right Response</a:t>
            </a:r>
          </a:p>
          <a:p>
            <a:endParaRPr lang="en-IN" sz="2000" b="1" dirty="0">
              <a:latin typeface="Calibri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5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0776EFA-3C09-84C9-90C5-856DF05938A0}"/>
              </a:ext>
            </a:extLst>
          </p:cNvPr>
          <p:cNvSpPr/>
          <p:nvPr/>
        </p:nvSpPr>
        <p:spPr>
          <a:xfrm>
            <a:off x="4406709" y="1345350"/>
            <a:ext cx="3044386" cy="19860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4B388-1E5F-D324-7C35-628E960054C0}"/>
              </a:ext>
            </a:extLst>
          </p:cNvPr>
          <p:cNvSpPr txBox="1"/>
          <p:nvPr/>
        </p:nvSpPr>
        <p:spPr>
          <a:xfrm>
            <a:off x="4735090" y="1909155"/>
            <a:ext cx="253975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identification of key suspects &amp; links</a:t>
            </a:r>
            <a:endParaRPr lang="en-IN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Reduced manual case-linking effort</a:t>
            </a:r>
            <a:endParaRPr lang="en-IN" dirty="0">
              <a:latin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328190-D9AE-019B-E5D7-605965DF1013}"/>
              </a:ext>
            </a:extLst>
          </p:cNvPr>
          <p:cNvSpPr/>
          <p:nvPr/>
        </p:nvSpPr>
        <p:spPr>
          <a:xfrm>
            <a:off x="722961" y="2306742"/>
            <a:ext cx="3044386" cy="18708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BBA25E-204F-02F6-A333-C5DF2298CE2A}"/>
              </a:ext>
            </a:extLst>
          </p:cNvPr>
          <p:cNvSpPr/>
          <p:nvPr/>
        </p:nvSpPr>
        <p:spPr>
          <a:xfrm>
            <a:off x="6211083" y="4237558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A77FCB-5BC7-6C34-1A9E-69F9CA070549}"/>
              </a:ext>
            </a:extLst>
          </p:cNvPr>
          <p:cNvSpPr/>
          <p:nvPr/>
        </p:nvSpPr>
        <p:spPr>
          <a:xfrm>
            <a:off x="2642080" y="4349392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16D182-2371-01BA-93D4-3AF27DF295BD}"/>
              </a:ext>
            </a:extLst>
          </p:cNvPr>
          <p:cNvSpPr/>
          <p:nvPr/>
        </p:nvSpPr>
        <p:spPr>
          <a:xfrm>
            <a:off x="8341265" y="2267691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DA5F6-9470-AA12-A984-292C081958C3}"/>
              </a:ext>
            </a:extLst>
          </p:cNvPr>
          <p:cNvSpPr txBox="1"/>
          <p:nvPr/>
        </p:nvSpPr>
        <p:spPr>
          <a:xfrm>
            <a:off x="2957816" y="4472708"/>
            <a:ext cx="313590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</a:t>
            </a:r>
            <a:r>
              <a:rPr lang="en-US" b="1" dirty="0">
                <a:latin typeface="Calibri"/>
                <a:ea typeface="Calibri"/>
                <a:cs typeface="Calibri"/>
              </a:rPr>
              <a:t>Judiciary </a:t>
            </a:r>
          </a:p>
          <a:p>
            <a:endParaRPr lang="en-IN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B997E3-DB60-7DE2-BBFA-EC9669192FB0}"/>
              </a:ext>
            </a:extLst>
          </p:cNvPr>
          <p:cNvSpPr txBox="1"/>
          <p:nvPr/>
        </p:nvSpPr>
        <p:spPr>
          <a:xfrm>
            <a:off x="8667753" y="2837852"/>
            <a:ext cx="253975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Data-driven resource allocation</a:t>
            </a:r>
            <a:endParaRPr lang="en-US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oversight across units &amp; jurisdictions</a:t>
            </a:r>
            <a:endParaRPr lang="en-US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B8DFD7-86E0-45DD-3F3F-2376C06E5EAB}"/>
              </a:ext>
            </a:extLst>
          </p:cNvPr>
          <p:cNvSpPr txBox="1"/>
          <p:nvPr/>
        </p:nvSpPr>
        <p:spPr>
          <a:xfrm>
            <a:off x="9162275" y="2331998"/>
            <a:ext cx="183490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Government / Policy Makers</a:t>
            </a:r>
            <a:endParaRPr lang="en-US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1D5B05-1B85-DD7E-C8B4-D1D9CDA4E61C}"/>
              </a:ext>
            </a:extLst>
          </p:cNvPr>
          <p:cNvSpPr txBox="1"/>
          <p:nvPr/>
        </p:nvSpPr>
        <p:spPr>
          <a:xfrm>
            <a:off x="926726" y="2835778"/>
            <a:ext cx="2732423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Real-time visibility into active syndicates</a:t>
            </a:r>
            <a:endParaRPr lang="en-IN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Prioritized threat alerts, less noise</a:t>
            </a:r>
            <a:endParaRPr lang="en-IN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D77AF1-E3B3-575B-A354-7439A0690B70}"/>
              </a:ext>
            </a:extLst>
          </p:cNvPr>
          <p:cNvSpPr txBox="1"/>
          <p:nvPr/>
        </p:nvSpPr>
        <p:spPr>
          <a:xfrm>
            <a:off x="7033288" y="4383280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Public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8F8BE7-E87A-1E72-B473-1D66104B78C8}"/>
              </a:ext>
            </a:extLst>
          </p:cNvPr>
          <p:cNvSpPr txBox="1"/>
          <p:nvPr/>
        </p:nvSpPr>
        <p:spPr>
          <a:xfrm>
            <a:off x="1342517" y="2340918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Command </a:t>
            </a:r>
            <a:r>
              <a:rPr lang="en-IN" b="1" dirty="0" err="1">
                <a:latin typeface="Calibri"/>
                <a:ea typeface="Calibri"/>
                <a:cs typeface="Calibri"/>
              </a:rPr>
              <a:t>Center</a:t>
            </a:r>
            <a:r>
              <a:rPr lang="en-IN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37FE7E-7D1C-DE0C-CC81-7E8D9604C575}"/>
              </a:ext>
            </a:extLst>
          </p:cNvPr>
          <p:cNvSpPr txBox="1"/>
          <p:nvPr/>
        </p:nvSpPr>
        <p:spPr>
          <a:xfrm>
            <a:off x="5332745" y="1405446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Investigators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36997-D133-BAF7-08D4-9E3C894E48B6}"/>
              </a:ext>
            </a:extLst>
          </p:cNvPr>
          <p:cNvSpPr txBox="1"/>
          <p:nvPr/>
        </p:nvSpPr>
        <p:spPr>
          <a:xfrm>
            <a:off x="2847798" y="4793957"/>
            <a:ext cx="253975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Explainable AI evidence trail (XAI)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Stronger, defensible case documentation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3D45B2-ECF8-FD84-8C9A-54E4A9EC8B1A}"/>
              </a:ext>
            </a:extLst>
          </p:cNvPr>
          <p:cNvSpPr txBox="1"/>
          <p:nvPr/>
        </p:nvSpPr>
        <p:spPr>
          <a:xfrm>
            <a:off x="6632666" y="4755296"/>
            <a:ext cx="271153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crime resolution &amp; safer neighborhoods</a:t>
            </a:r>
            <a:endParaRPr lang="en-US" sz="1600" dirty="0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Increased trust via transparent, auditable action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46053" y="2093648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WHO Digital Transformation Handbook </a:t>
            </a:r>
          </a:p>
          <a:p>
            <a:pPr lvl="0"/>
            <a:r>
              <a:rPr lang="en-IN" dirty="0">
                <a:hlinkClick r:id="rId3"/>
              </a:rPr>
              <a:t>https://www.who.int/publications/b/76072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WHO Medicines Supply Systems </a:t>
            </a:r>
          </a:p>
          <a:p>
            <a:pPr lvl="0"/>
            <a:r>
              <a:rPr lang="en-IN" dirty="0">
                <a:hlinkClick r:id="rId4"/>
              </a:rPr>
              <a:t>https://www.who.int/teams/health-product-policy-and-standards/medicines-selection-ip-and-affordability/medicines-policy/medicines-supply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WHO Procurement &amp; Supply Chain Guidelines</a:t>
            </a:r>
          </a:p>
          <a:p>
            <a:r>
              <a:rPr lang="en-IN" dirty="0">
                <a:hlinkClick r:id="rId5"/>
              </a:rPr>
              <a:t>https://www.who.int/about/accountability/procurement/principles-and-processes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62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7647</TotalTime>
  <Words>664</Words>
  <Application>Microsoft Office PowerPoint</Application>
  <PresentationFormat>Widescreen</PresentationFormat>
  <Paragraphs>164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 NETSENTINEL-Mumbai Police Intelligence Platform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Bhavya Parekh</cp:lastModifiedBy>
  <cp:revision>336</cp:revision>
  <dcterms:created xsi:type="dcterms:W3CDTF">2013-12-12T18:46:50Z</dcterms:created>
  <dcterms:modified xsi:type="dcterms:W3CDTF">2026-09-21T20:32:04Z</dcterms:modified>
  <cp:category/>
</cp:coreProperties>
</file>